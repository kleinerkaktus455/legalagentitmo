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Golos Text"/>
      <p:regular r:id="rId21"/>
      <p:bold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Golos Text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jXfq7T9Fl3mBpGrM6F8wILbzcXr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Иван Ходненко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6F1D5B-8A68-4CDE-AF4E-148A98B2EBBB}">
  <a:tblStyle styleId="{0E6F1D5B-8A68-4CDE-AF4E-148A98B2EBB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losText-bold.fntdata"/><Relationship Id="rId21" Type="http://schemas.openxmlformats.org/officeDocument/2006/relationships/font" Target="fonts/GolosText-regular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GolosTextSemiBold-bold.fntdata"/><Relationship Id="rId27" Type="http://schemas.openxmlformats.org/officeDocument/2006/relationships/font" Target="fonts/GolosTex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6T13:07:34.563">
    <p:pos x="266" y="729"/>
    <p:text>результатА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vQ3W-Q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30c722ffd_4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b30c722ffd_42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bb86a7c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9bb86a7c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1524000" y="2490281"/>
            <a:ext cx="9144000" cy="1475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5805890" y="4175394"/>
            <a:ext cx="5871990" cy="227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/>
        </p:nvSpPr>
        <p:spPr>
          <a:xfrm>
            <a:off x="1524000" y="12308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b="0" i="0" lang="ru-RU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 математика и информатика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0" type="dt"/>
          </p:nvPr>
        </p:nvSpPr>
        <p:spPr>
          <a:xfrm>
            <a:off x="42153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" name="Google Shape;24;p18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Фина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/>
        </p:nvSpPr>
        <p:spPr>
          <a:xfrm>
            <a:off x="1981200" y="22590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</a:t>
            </a:r>
            <a:b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за внимание!</a:t>
            </a:r>
            <a:endParaRPr b="1" i="0" sz="6000" u="none" cap="none" strike="noStrik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b30c722ffd_42_129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g3b30c722ffd_42_129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b30c722ffd_42_129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b30c722ffd_42_129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b30c722ffd_42_129"/>
          <p:cNvSpPr txBox="1"/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b30c722ffd_42_129"/>
          <p:cNvSpPr txBox="1"/>
          <p:nvPr>
            <p:ph idx="1" type="body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3810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b="0" i="0" sz="24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30c722ffd_42_136"/>
          <p:cNvSpPr txBox="1"/>
          <p:nvPr/>
        </p:nvSpPr>
        <p:spPr>
          <a:xfrm>
            <a:off x="1535833" y="692400"/>
            <a:ext cx="94413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2"/>
                </a:solidFill>
                <a:latin typeface="Golos Text"/>
                <a:ea typeface="Golos Text"/>
                <a:cs typeface="Golos Text"/>
                <a:sym typeface="Golos Text"/>
              </a:rPr>
              <a:t>Направление подготовки</a:t>
            </a:r>
            <a:endParaRPr sz="2400">
              <a:solidFill>
                <a:schemeClr val="l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9" name="Google Shape;39;g3b30c722ffd_42_136"/>
          <p:cNvSpPr txBox="1"/>
          <p:nvPr>
            <p:ph idx="1" type="body"/>
          </p:nvPr>
        </p:nvSpPr>
        <p:spPr>
          <a:xfrm>
            <a:off x="6336400" y="4313800"/>
            <a:ext cx="5809500" cy="19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Студент: </a:t>
            </a:r>
            <a:br>
              <a:rPr lang="ru-RU" sz="1800">
                <a:solidFill>
                  <a:schemeClr val="lt1"/>
                </a:solidFill>
              </a:rPr>
            </a:br>
            <a:r>
              <a:rPr lang="ru-RU" sz="1800">
                <a:solidFill>
                  <a:schemeClr val="lt1"/>
                </a:solidFill>
              </a:rPr>
              <a:t>Иванов Иван Иванович, гр. J9999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Научный руководитель: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Петров Пётр Петрович, к.т.н., доцент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Научный консультант: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ru-RU" sz="1800">
                <a:solidFill>
                  <a:schemeClr val="lt1"/>
                </a:solidFill>
              </a:rPr>
              <a:t>Фёдоров Фёдор Фёдорович, д.ф.-м.н., профессор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0" name="Google Shape;40;g3b30c722ffd_42_136"/>
          <p:cNvSpPr txBox="1"/>
          <p:nvPr>
            <p:ph type="title"/>
          </p:nvPr>
        </p:nvSpPr>
        <p:spPr>
          <a:xfrm>
            <a:off x="1524000" y="2490281"/>
            <a:ext cx="9144000" cy="14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Постановка проблемы</a:t>
            </a:r>
            <a:endParaRPr/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7" name="Google Shape;47;p2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Описание решаемой проблемы, обоснование её актуальности и</a:t>
            </a:r>
            <a:r>
              <a:rPr lang="ru-RU"/>
              <a:t> </a:t>
            </a:r>
            <a:r>
              <a:rPr b="1" lang="ru-RU"/>
              <a:t>научности (почему именно научный трек?)</a:t>
            </a:r>
            <a:r>
              <a:rPr b="1" lang="ru-RU"/>
              <a:t>. </a:t>
            </a:r>
            <a:br>
              <a:rPr b="1" lang="ru-RU"/>
            </a:br>
            <a:r>
              <a:rPr lang="ru-RU"/>
              <a:t>Также возможно, если необходимо, краткое введение в доменную область проблемы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53" name="Google Shape;53;p3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422275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Цель исследования: </a:t>
            </a:r>
            <a:r>
              <a:rPr lang="ru-RU"/>
              <a:t>должна быть достижима, а значит сформулирована как достижение конкретного </a:t>
            </a:r>
            <a:r>
              <a:rPr lang="ru-RU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результат</a:t>
            </a:r>
            <a:r>
              <a:rPr lang="ru-RU"/>
              <a:t>а</a:t>
            </a:r>
            <a:r>
              <a:rPr lang="ru-RU"/>
              <a:t> или получение артефакта, кратко формулируется одна главная цель.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Задачи (</a:t>
            </a:r>
            <a:r>
              <a:rPr lang="ru-RU"/>
              <a:t>3–5 конкретных шагов для достижения цели)</a:t>
            </a:r>
            <a:r>
              <a:rPr b="1" lang="ru-RU"/>
              <a:t>: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AutoNum type="arabicPeriod"/>
            </a:pPr>
            <a:r>
              <a:rPr lang="ru-RU"/>
              <a:t>Здесь пишем шаги необходимые для достижения цели</a:t>
            </a:r>
            <a:endParaRPr/>
          </a:p>
          <a:p>
            <a:pPr indent="-266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AutoNum type="arabicPeriod"/>
            </a:pPr>
            <a:r>
              <a:rPr lang="ru-RU"/>
              <a:t>Также как и цель, задачи должны быть конкретны и достижимы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ru-RU"/>
            </a:br>
            <a:br>
              <a:rPr lang="ru-RU"/>
            </a:b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Цель:</a:t>
            </a:r>
            <a:r>
              <a:rPr lang="ru-RU"/>
              <a:t> Разработать модель классификации рентгеновских изображений лёгких.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Задачи: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1. Проанализировать существующие методы компьютерного зрения.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2. Собрать и разметить датасет изображений.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3. Обучить сверточную нейронную сеть.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4. Провести оценку точности и сравнение с базовыми моделями.</a:t>
            </a:r>
            <a:endParaRPr/>
          </a:p>
          <a:p>
            <a:pPr indent="-139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bb86a7c59_0_0"/>
          <p:cNvSpPr txBox="1"/>
          <p:nvPr>
            <p:ph type="title"/>
          </p:nvPr>
        </p:nvSpPr>
        <p:spPr>
          <a:xfrm>
            <a:off x="421532" y="3651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Обзор аналогичных решений/исследований</a:t>
            </a:r>
            <a:endParaRPr/>
          </a:p>
        </p:txBody>
      </p:sp>
      <p:sp>
        <p:nvSpPr>
          <p:cNvPr id="60" name="Google Shape;60;g39bb86a7c59_0_0"/>
          <p:cNvSpPr txBox="1"/>
          <p:nvPr>
            <p:ph idx="12" type="sldNum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1" name="Google Shape;61;g39bb86a7c59_0_0"/>
          <p:cNvSpPr txBox="1"/>
          <p:nvPr>
            <p:ph idx="1" type="body"/>
          </p:nvPr>
        </p:nvSpPr>
        <p:spPr>
          <a:xfrm>
            <a:off x="421525" y="1157601"/>
            <a:ext cx="11348100" cy="5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Что тут писать: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Краткий обзор 3–5 научных источников или статей.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Укажите основные подходы, методы и их недостатки. Недостатки должны быть связаны с вашим исследованием и обосновывать его новизну.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Пример (сам список литературы лучше сделать на слайдах в конце):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Zhao, W., et al. </a:t>
            </a:r>
            <a:r>
              <a:rPr i="1" lang="ru-RU"/>
              <a:t>“Deep Learning-Based Fault Diagnosis for Rotating Machinery Using Vibration Signals.” </a:t>
            </a:r>
            <a:r>
              <a:rPr b="1" lang="ru-RU"/>
              <a:t>IEEE Transactions on Industrial Informatics</a:t>
            </a:r>
            <a:r>
              <a:rPr lang="ru-RU"/>
              <a:t>, 2022:</a:t>
            </a:r>
            <a:br>
              <a:rPr lang="ru-RU"/>
            </a:br>
            <a:r>
              <a:rPr lang="ru-RU"/>
              <a:t>Используется CNN для автоматического извлечения признаков из временных рядов.</a:t>
            </a:r>
            <a:br>
              <a:rPr lang="ru-RU"/>
            </a:br>
            <a:r>
              <a:rPr b="1" lang="ru-RU"/>
              <a:t>Недостатки:</a:t>
            </a:r>
            <a:r>
              <a:rPr lang="ru-RU"/>
              <a:t> чувствительность к шуму, необходимость большого количества данных.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J. Li, K. Wang, Y. Zhang. </a:t>
            </a:r>
            <a:r>
              <a:rPr i="1" lang="ru-RU"/>
              <a:t>“Transformer-Based Signal Representation for Machinery Health Monitoring.” </a:t>
            </a:r>
            <a:r>
              <a:rPr b="1" lang="ru-RU"/>
              <a:t>Mechanical Systems and Signal Processing</a:t>
            </a:r>
            <a:r>
              <a:rPr lang="ru-RU"/>
              <a:t>, 2023:</a:t>
            </a:r>
            <a:br>
              <a:rPr lang="ru-RU"/>
            </a:br>
            <a:r>
              <a:rPr lang="ru-RU"/>
              <a:t>Модель Transformer эффективно выявляет долгосрочные зависимости в данных.</a:t>
            </a:r>
            <a:br>
              <a:rPr lang="ru-RU"/>
            </a:br>
            <a:r>
              <a:rPr b="1" lang="ru-RU"/>
              <a:t>Недостатки:</a:t>
            </a:r>
            <a:r>
              <a:rPr lang="ru-RU"/>
              <a:t> высокая вычислительная сложность.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K. Singh, R. Gupta. </a:t>
            </a:r>
            <a:r>
              <a:rPr i="1" lang="ru-RU"/>
              <a:t>“Hybrid CNN-LSTM Model for Predictive Maintenance in Industrial Systems.” </a:t>
            </a:r>
            <a:r>
              <a:rPr b="1" lang="ru-RU"/>
              <a:t>Expert Systems with Applications</a:t>
            </a:r>
            <a:r>
              <a:rPr lang="ru-RU"/>
              <a:t>, 2024:</a:t>
            </a:r>
            <a:br>
              <a:rPr lang="ru-RU"/>
            </a:br>
            <a:r>
              <a:rPr lang="ru-RU"/>
              <a:t>Комбинируется CNN (для признаков) и LSTM (для временной динамики).</a:t>
            </a:r>
            <a:br>
              <a:rPr lang="ru-RU"/>
            </a:br>
            <a:r>
              <a:rPr b="1" lang="ru-RU"/>
              <a:t>Недостатки:</a:t>
            </a:r>
            <a:r>
              <a:rPr lang="ru-RU"/>
              <a:t> необходимость тщательной настройки гиперпараметров.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/>
              <a:t>Вывод:</a:t>
            </a:r>
            <a:br>
              <a:rPr lang="ru-RU"/>
            </a:br>
            <a:r>
              <a:rPr lang="ru-RU"/>
              <a:t>Современные архитектуры показывают высокую точность прогнозирования износа, но требуют оптимизации под конкретные типы оборудования и условий эксплуатации.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Методы и инструменты исследования</a:t>
            </a:r>
            <a:endParaRPr/>
          </a:p>
        </p:txBody>
      </p:sp>
      <p:sp>
        <p:nvSpPr>
          <p:cNvPr id="67" name="Google Shape;67;p5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5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Что тут писать: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Методы (математические, аналитические, экспериментальные) </a:t>
            </a:r>
            <a:r>
              <a:rPr lang="ru-RU"/>
              <a:t>с обоснованием выбора.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Инструменты (языки, фреймворки, библиотеки, датасеты)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Методы:</a:t>
            </a:r>
            <a:r>
              <a:rPr lang="ru-RU"/>
              <a:t> глубокое обучение, классификация изображений, transfer learning.</a:t>
            </a:r>
            <a:br>
              <a:rPr lang="ru-RU"/>
            </a:br>
            <a:r>
              <a:rPr b="1" lang="ru-RU"/>
              <a:t>Инструменты:</a:t>
            </a:r>
            <a:r>
              <a:rPr lang="ru-RU"/>
              <a:t> Python, TensorFlow, Keras, NumPy, Matplotlib.</a:t>
            </a:r>
            <a:br>
              <a:rPr lang="ru-RU"/>
            </a:br>
            <a:r>
              <a:rPr b="1" lang="ru-RU"/>
              <a:t>Данные:</a:t>
            </a:r>
            <a:r>
              <a:rPr lang="ru-RU"/>
              <a:t> Kaggle dataset "Chest X-Ray Images (Pneumonia)".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Научная новизна (оценивается на научном проекте)</a:t>
            </a:r>
            <a:endParaRPr/>
          </a:p>
        </p:txBody>
      </p:sp>
      <p:sp>
        <p:nvSpPr>
          <p:cNvPr id="74" name="Google Shape;74;p6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5" name="Google Shape;75;p6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Что тут писать:</a:t>
            </a:r>
            <a:br>
              <a:rPr lang="ru-RU"/>
            </a:br>
            <a:r>
              <a:rPr lang="ru-RU"/>
              <a:t>Отразите </a:t>
            </a:r>
            <a:r>
              <a:rPr b="1" lang="ru-RU"/>
              <a:t>то, что делает проект уникальным и значимым</a:t>
            </a:r>
            <a:r>
              <a:rPr lang="ru-RU"/>
              <a:t> в контексте существующих исследований: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чем ваш подход отличается от уже известных решений;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какие новые данные, методы или модели предложены;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какие пробелы в научной области закрывает работа;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возможные научные или практические последствия полученных результатов.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Впервые предложен метод анализа ..., позволяющий учитывать ..., что ранее не рассматривалось в существующих моделях.</a:t>
            </a:r>
            <a:br>
              <a:rPr lang="ru-RU"/>
            </a:br>
            <a:r>
              <a:rPr lang="ru-RU"/>
              <a:t>Полученные результаты уточняют представления о ..., открывая возможности для 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b="1" lang="ru-RU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Ход решения </a:t>
            </a:r>
            <a:r>
              <a:rPr i="1" lang="ru-RU">
                <a:highlight>
                  <a:srgbClr val="FFFF00"/>
                </a:highlight>
              </a:rPr>
              <a:t>(самая важная часть презентации, уделите ей большую часть выступления)</a:t>
            </a:r>
            <a:endParaRPr/>
          </a:p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Что тут писать: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Что и как сделано поэтапно (по задачам проекта)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Графики, таблицы, примеры данных.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Тут может быть несколько слайдов, но учтите, что презентация 7 минут.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Какая польза или практический результат.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Собрано 5000 изображений.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Выполнена нормализация и аугментация данных.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Предварительная точность модели: 82%.</a:t>
            </a:r>
            <a:br>
              <a:rPr lang="ru-RU"/>
            </a:br>
            <a:r>
              <a:rPr lang="ru-RU"/>
              <a:t>(Вставить график обучения или пример изображения.)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Ход решения </a:t>
            </a:r>
            <a:r>
              <a:rPr lang="ru-RU">
                <a:highlight>
                  <a:srgbClr val="FFFF00"/>
                </a:highlight>
              </a:rPr>
              <a:t>(самая важная часть презентации, уделите ей большую часть выступления)</a:t>
            </a:r>
            <a:endParaRPr/>
          </a:p>
        </p:txBody>
      </p:sp>
      <p:sp>
        <p:nvSpPr>
          <p:cNvPr id="88" name="Google Shape;88;p10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Доп слайд</a:t>
            </a:r>
            <a:br>
              <a:rPr b="1" lang="ru-RU"/>
            </a:br>
            <a:r>
              <a:rPr b="1" lang="ru-RU"/>
              <a:t>Пример:</a:t>
            </a:r>
            <a:br>
              <a:rPr b="1" lang="ru-RU"/>
            </a:br>
            <a:r>
              <a:rPr b="1" lang="ru-RU"/>
              <a:t>Сбор и подготовка данных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Использован открытый датасет </a:t>
            </a:r>
            <a:r>
              <a:rPr i="1" lang="ru-RU"/>
              <a:t>ChestX-ray14 / COVIDx / RSNA Pneumonia Dataset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Проведена разметка изображений на классы: </a:t>
            </a:r>
            <a:r>
              <a:rPr i="1" lang="ru-RU"/>
              <a:t>норма</a:t>
            </a:r>
            <a:r>
              <a:rPr lang="ru-RU"/>
              <a:t>, </a:t>
            </a:r>
            <a:r>
              <a:rPr i="1" lang="ru-RU"/>
              <a:t>пневмония</a:t>
            </a:r>
            <a:r>
              <a:rPr lang="ru-RU"/>
              <a:t>, </a:t>
            </a:r>
            <a:r>
              <a:rPr i="1" lang="ru-RU"/>
              <a:t>COVID-19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Применены аугментации (повороты, отражения, изменение контрастности)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Предобработка изображений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Изменение размера до 224×224 пикселей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Нормализация яркости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Удаление шумов с помощью фильтров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Выбор и обучение модели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Использованы архитектуры CNN (например, </a:t>
            </a:r>
            <a:r>
              <a:rPr i="1" lang="ru-RU"/>
              <a:t>ResNet50</a:t>
            </a:r>
            <a:r>
              <a:rPr lang="ru-RU"/>
              <a:t>, </a:t>
            </a:r>
            <a:r>
              <a:rPr i="1" lang="ru-RU"/>
              <a:t>EfficientNetB0</a:t>
            </a:r>
            <a:r>
              <a:rPr lang="ru-RU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Обучение на GPU, оптимизатор Adam, функция потерь — </a:t>
            </a:r>
            <a:r>
              <a:rPr i="1" lang="ru-RU"/>
              <a:t>categorical cross-entropy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Разделение данных на train/val/test (например, 70/15/15)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Оценка качества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Метрики: </a:t>
            </a:r>
            <a:r>
              <a:rPr i="1" lang="ru-RU"/>
              <a:t>accuracy, precision, recall, F1-score, ROC-AUC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-RU"/>
              <a:t>Анализ ошибок (матрица ошибок, примеры неверных классификаций)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Основные результаты: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421531" y="1157591"/>
            <a:ext cx="11348194" cy="5558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>Что тут писать: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Что получилось к концу НИР.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Какая польза или практический результат.</a:t>
            </a:r>
            <a:br>
              <a:rPr lang="ru-RU" sz="1800"/>
            </a:br>
            <a:r>
              <a:rPr lang="ru-RU" sz="1800">
                <a:highlight>
                  <a:srgbClr val="FFFF00"/>
                </a:highlight>
              </a:rPr>
              <a:t>Сюда добавить ссылку на открытый репозиторий с кодом реализации поставленной научной задачи и проведения экспериментов (с оформленным README.MD с описанием репозитория).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>Пример: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>Показатели точности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Accuracy на тестовой выборке: </a:t>
            </a:r>
            <a:r>
              <a:rPr b="1" lang="ru-RU" sz="1800"/>
              <a:t>92%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F1-score для класса «пневмония»: </a:t>
            </a:r>
            <a:r>
              <a:rPr b="1" lang="ru-RU" sz="1800"/>
              <a:t>0.89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800"/>
              <a:t>ROC-AUC: </a:t>
            </a:r>
            <a:r>
              <a:rPr b="1" lang="ru-RU" sz="1800"/>
              <a:t>0.95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800"/>
              <a:t>Сравнение моделей</a:t>
            </a:r>
            <a:endParaRPr sz="1800"/>
          </a:p>
        </p:txBody>
      </p:sp>
      <p:graphicFrame>
        <p:nvGraphicFramePr>
          <p:cNvPr id="97" name="Google Shape;97;p11"/>
          <p:cNvGraphicFramePr/>
          <p:nvPr/>
        </p:nvGraphicFramePr>
        <p:xfrm>
          <a:off x="504412" y="5332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{0E6F1D5B-8A68-4CDE-AF4E-148A98B2EBBB}</a:tableStyleId>
              </a:tblPr>
              <a:tblGrid>
                <a:gridCol w="2608200"/>
                <a:gridCol w="2608200"/>
                <a:gridCol w="2608200"/>
                <a:gridCol w="2608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Модель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Accuracy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F1-score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Время обучения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ResNet50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91%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0.88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2 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EfficientNetB0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b="1" lang="ru-RU" sz="1800" u="none" cap="none" strike="noStrike"/>
                        <a:t>92%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b="1" lang="ru-RU" sz="1800" u="none" cap="none" strike="noStrike"/>
                        <a:t>0.89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olos Text"/>
                        <a:buNone/>
                      </a:pPr>
                      <a:r>
                        <a:rPr lang="ru-RU" sz="1800" u="none" cap="none" strike="noStrike"/>
                        <a:t>1.5 ч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Основные результаты: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4" name="Google Shape;104;p12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Доп слайд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Визуальные результаты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Примеры правильно и ошибочно классифицированных изображений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Тепловые карты (Grad-CAM) для интерпретации решения сети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Выводы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Разработанная модель демонстрирует высокую точность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Возможна интеграция в систему предварительного анализа рентгеновских снимков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Требуется дальнейшая проверка на реальных клинических данных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Ожидаемые результаты </a:t>
            </a:r>
            <a:r>
              <a:rPr lang="ru-RU">
                <a:highlight>
                  <a:srgbClr val="FFFF00"/>
                </a:highlight>
              </a:rPr>
              <a:t>(если планируется доработка/тема на 2 семестра)</a:t>
            </a:r>
            <a:endParaRPr/>
          </a:p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13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Что тут писать: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Что планируется получить к концу проекта.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Какая польза или практический результат.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Повышение точности модели до 90%.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Создание прототипа веб-приложения для автоматического анализа снимков.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Подготовка публикации.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Заключение </a:t>
            </a:r>
            <a:endParaRPr/>
          </a:p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8" name="Google Shape;118;p14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ru-RU"/>
            </a:br>
            <a:r>
              <a:rPr b="1" lang="ru-RU"/>
              <a:t>Что тут писать: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Краткие выводы по проделанной работе, полученные по каждой задаче и демонстрация, что цель работы достигнута</a:t>
            </a:r>
            <a:br>
              <a:rPr lang="ru-RU"/>
            </a:br>
            <a:r>
              <a:rPr lang="ru-RU"/>
              <a:t>Направления дальнейших исследований.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/>
              <a:t>В рамках первого семестра сформулирована цель и задачи, собран датасет и обучена базовая модель.</a:t>
            </a:r>
            <a:br>
              <a:rPr lang="ru-RU"/>
            </a:br>
            <a:r>
              <a:rPr lang="ru-RU"/>
              <a:t>В дальнейшем планируется улучшение архитектуры и оптимизация гиперпараметров.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ru-RU"/>
            </a:b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/>
              <a:t>Степень готовности результатов к публикации (оценивается на научном проекте)</a:t>
            </a:r>
            <a:endParaRPr/>
          </a:p>
        </p:txBody>
      </p:sp>
      <p:sp>
        <p:nvSpPr>
          <p:cNvPr id="124" name="Google Shape;124;p8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421531" y="1157591"/>
            <a:ext cx="11348194" cy="533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Что тут писать:</a:t>
            </a:r>
            <a:br>
              <a:rPr lang="ru-RU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Покажите, насколько результат готов к публикации: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подготовлен ли препринт статей, тезисов, докладов;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определены ли журналы/конференции для публикации;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имеются ли предварительные рецензии, доработанные версии текста.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Подготовлен полный текст статьи, отправленной в журнал </a:t>
            </a:r>
            <a:r>
              <a:rPr i="1" lang="ru-RU"/>
              <a:t>X</a:t>
            </a:r>
            <a:r>
              <a:rPr lang="ru-RU"/>
              <a:t> (Q2, Scopus). Получены замечания рецензентов, готовится доработка.</a:t>
            </a:r>
            <a:br>
              <a:rPr lang="ru-RU"/>
            </a:br>
            <a:br>
              <a:rPr lang="ru-RU"/>
            </a:br>
            <a:r>
              <a:rPr b="1" lang="ru-RU"/>
              <a:t>(Дополнительно) Факт наличия акцепта по поданной статье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Если есть уже принятая публикация или подтверждение принятия: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название статьи и журнала (без избыточных подробностей, но с акцентом на статусе — Q1/Q2, RSCI, ВАК и т.п.);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дата акцепта или статус (“принята к публикации”, “в печати”);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при необходимости — ссылка или DOI (если уже присвоен).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Пример: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Статья “...” принята к публикации в журнал </a:t>
            </a:r>
            <a:r>
              <a:rPr i="1" lang="ru-RU"/>
              <a:t>Scientific Reports</a:t>
            </a:r>
            <a:r>
              <a:rPr lang="ru-RU"/>
              <a:t> (Q1, Web of Science), акцепт получен 12.09.2025.</a:t>
            </a:r>
            <a:br>
              <a:rPr lang="ru-RU"/>
            </a:br>
            <a:br>
              <a:rPr lang="ru-RU"/>
            </a:br>
            <a:r>
              <a:rPr lang="ru-RU">
                <a:highlight>
                  <a:srgbClr val="FFFF00"/>
                </a:highlight>
              </a:rPr>
              <a:t>Ссылка на препринт научной статьи в шаблоне журнала или конференции, куда он будет подан в течение 3 месяцев после завершения проекта.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2025-10-08T10:34:53Z</dcterms:created>
  <dc:creator>Цветкова Екатерина Андреевна</dc:creator>
</cp:coreProperties>
</file>
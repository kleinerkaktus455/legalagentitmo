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0" r:id="rId30"/>
    <p:sldId id="271" r:id="rId31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Golos Text"/>
      <p:regular r:id="rId21"/>
      <p:bold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Golos Text SemiBo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Xfq7T9Fl3mBpGrM6F8wILbzcXr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Иван Ходненко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6F1D5B-8A68-4CDE-AF4E-148A98B2EBBB}">
  <a:tblStyle styleId="{0E6F1D5B-8A68-4CDE-AF4E-148A98B2EBB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font" Target="fonts/GolosText-regular.fntdata"/><Relationship Id="rId22" Type="http://schemas.openxmlformats.org/officeDocument/2006/relationships/font" Target="fonts/GolosText-bold.fntdata"/><Relationship Id="rId23" Type="http://schemas.openxmlformats.org/officeDocument/2006/relationships/font" Target="fonts/Montserrat-regular.fntdata"/><Relationship Id="rId24" Type="http://schemas.openxmlformats.org/officeDocument/2006/relationships/font" Target="fonts/Montserrat-bold.fntdata"/><Relationship Id="rId25" Type="http://schemas.openxmlformats.org/officeDocument/2006/relationships/font" Target="fonts/Montserrat-italic.fntdata"/><Relationship Id="rId26" Type="http://schemas.openxmlformats.org/officeDocument/2006/relationships/font" Target="fonts/Montserrat-boldItalic.fntdata"/><Relationship Id="rId27" Type="http://schemas.openxmlformats.org/officeDocument/2006/relationships/font" Target="fonts/GolosTextSemiBold-regular.fntdata"/><Relationship Id="rId28" Type="http://schemas.openxmlformats.org/officeDocument/2006/relationships/font" Target="fonts/GolosTextSemiBold-bold.fntdata"/><Relationship Id="rId29" Type="http://customschemas.google.com/relationships/presentationmetadata" Target="metadata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06T13:07:34.563">
    <p:pos x="266" y="729"/>
    <p:text>результатА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vQ3W-QM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30c722ffd_4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b30c722ffd_42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bb86a7c5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9bb86a7c5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524000" y="2490281"/>
            <a:ext cx="9144000" cy="1475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  <a:defRPr sz="24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5805890" y="4175394"/>
            <a:ext cx="5871990" cy="227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/>
        </p:nvSpPr>
        <p:spPr>
          <a:xfrm>
            <a:off x="1524000" y="12308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olos Text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01.04.02 </a:t>
            </a:r>
            <a:r>
              <a:rPr b="0" i="0" lang="ru-RU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Прикладная математика и информатика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0" type="dt"/>
          </p:nvPr>
        </p:nvSpPr>
        <p:spPr>
          <a:xfrm>
            <a:off x="42153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">
  <p:cSld name="Фина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/>
        </p:nvSpPr>
        <p:spPr>
          <a:xfrm>
            <a:off x="1981200" y="22590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os Text SemiBold"/>
              <a:buNone/>
            </a:pPr>
            <a:r>
              <a:rPr b="1" i="0" lang="ru-RU" sz="6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Thank you</a:t>
            </a:r>
            <a:br>
              <a:rPr b="1" i="0" lang="ru-RU" sz="6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</a:br>
            <a:r>
              <a:rPr b="1" i="0" lang="ru-RU" sz="6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/>
            </a:r>
            <a:endParaRPr b="1" i="0" sz="6000" u="none" cap="none" strike="noStrike">
              <a:solidFill>
                <a:srgbClr val="FFFFF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  <a:p>
            <a:r>
              <a:rPr sz="6000">
                <a:solidFill>
                  <a:srgbClr val="FFFFFF"/>
                </a:solidFill>
                <a:latin typeface="Golos Text SemiBold"/>
              </a:rPr>
              <a:t>for your attention!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b30c722ffd_42_129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b30c722ffd_42_129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b30c722ffd_42_129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b30c722ffd_42_129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b30c722ffd_42_129"/>
          <p:cNvSpPr txBox="1"/>
          <p:nvPr>
            <p:ph type="title"/>
          </p:nvPr>
        </p:nvSpPr>
        <p:spPr>
          <a:xfrm>
            <a:off x="609600" y="408580"/>
            <a:ext cx="90993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Golos Text SemiBold"/>
              <a:buNone/>
              <a:defRPr sz="43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b30c722ffd_42_129"/>
          <p:cNvSpPr txBox="1"/>
          <p:nvPr>
            <p:ph idx="1" type="body"/>
          </p:nvPr>
        </p:nvSpPr>
        <p:spPr>
          <a:xfrm>
            <a:off x="609599" y="1386883"/>
            <a:ext cx="11185500" cy="4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3810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b="0" i="0" sz="24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30c722ffd_42_136"/>
          <p:cNvSpPr txBox="1"/>
          <p:nvPr/>
        </p:nvSpPr>
        <p:spPr>
          <a:xfrm>
            <a:off x="1535833" y="692400"/>
            <a:ext cx="94413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2"/>
                </a:solidFill>
                <a:latin typeface="Golos Text"/>
                <a:ea typeface="Golos Text"/>
                <a:cs typeface="Golos Text"/>
                <a:sym typeface="Golos Text"/>
              </a:rPr>
              <a:t>Multi-Agent Court-Act Assistant</a:t>
            </a:r>
            <a:endParaRPr sz="2400">
              <a:solidFill>
                <a:schemeClr val="l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9" name="Google Shape;39;g3b30c722ffd_42_136"/>
          <p:cNvSpPr txBox="1"/>
          <p:nvPr>
            <p:ph idx="1" type="body"/>
          </p:nvPr>
        </p:nvSpPr>
        <p:spPr>
          <a:xfrm>
            <a:off x="6336400" y="4313800"/>
            <a:ext cx="5809500" cy="19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Student:</a:t>
            </a:r>
            <a:br>
              <a:rPr lang="ru-RU" sz="1800">
                <a:solidFill>
                  <a:schemeClr val="lt1"/>
                </a:solidFill>
              </a:rPr>
            </a:br>
            <a:r>
              <a:rPr lang="ru-RU" sz="1800">
                <a:solidFill>
                  <a:schemeClr val="lt1"/>
                </a:solidFill>
              </a:rP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>Anastasia Senichenkova, 01.04.02 Applied Mathematics and Informatics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Scientific supervisor: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to be specified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>Scientific consultant: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to be specified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0" name="Google Shape;40;g3b30c722ffd_42_136"/>
          <p:cNvSpPr txBox="1"/>
          <p:nvPr>
            <p:ph type="title"/>
          </p:nvPr>
        </p:nvSpPr>
        <p:spPr>
          <a:xfrm>
            <a:off x="1524000" y="2490281"/>
            <a:ext cx="9144000" cy="14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Problem statement</a:t>
            </a:r>
            <a:endParaRPr/>
          </a:p>
        </p:txBody>
      </p:sp>
      <p:sp>
        <p:nvSpPr>
          <p:cNvPr id="46" name="Google Shape;46;p2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7" name="Google Shape;47;p2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Open corpora of Russian courts of general jurisdiction (SOY) are large, mixed, and hard to search for analogous cases.</a:t>
            </a:r>
            <a:r>
              <a:rPr lang="ru-RU"/>
              <a:t/>
            </a:r>
            <a:r>
              <a:rPr b="1" lang="ru-RU"/>
              <a:t/>
            </a:r>
            <a:r>
              <a:rPr b="1" lang="ru-RU"/>
              <a:t/>
            </a:r>
            <a:br>
              <a:rPr b="1" lang="ru-RU"/>
            </a:br>
            <a:r>
              <a:rPr lang="ru-RU"/>
              <a:t/>
            </a:r>
            <a:endParaRPr/>
          </a:p>
          <a:p>
            <a:r>
              <a:t>A case card stores metadata and sometimes HTML; a parallel corpus splits the act into header, facts (fabula), and operative part. There is no gold outcome label.</a:t>
            </a:r>
          </a:p>
          <a:p>
            <a:r>
              <a:t>Legal LLMs often invent citations. Predicting a judgment from this data would be scientifically weak and practically misleading.</a:t>
            </a:r>
          </a:p>
          <a:p>
            <a:r>
              <a:t>Scientific track: normalize the card into a Case Graph, retrieve comparable practice from an index, and draft a position that may cite only indexed case IDs.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Goal and tasks</a:t>
            </a:r>
            <a:endParaRPr/>
          </a:p>
        </p:txBody>
      </p:sp>
      <p:sp>
        <p:nvSpPr>
          <p:cNvPr id="53" name="Google Shape;53;p3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4" name="Google Shape;54;p3"/>
          <p:cNvSpPr txBox="1"/>
          <p:nvPr>
            <p:ph idx="1" type="body"/>
          </p:nvPr>
        </p:nvSpPr>
        <p:spPr>
          <a:xfrm>
            <a:off x="422275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Goal: build a working multi-agent prototype that analyzes a SOY case card, retrieves analogous practice, and drafts a grounded legal position.</a:t>
            </a:r>
            <a:r>
              <a:rPr lang="ru-RU"/>
              <a:t/>
            </a:r>
            <a:r>
              <a:rPr lang="ru-RU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/>
            </a:r>
            <a:r>
              <a:rPr lang="ru-RU"/>
              <a:t/>
            </a: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Tasks:</a:t>
            </a:r>
            <a:r>
              <a:rPr lang="ru-RU"/>
              <a:t/>
            </a:r>
            <a:r>
              <a:rPr b="1" lang="ru-RU"/>
              <a:t/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AutoNum type="arabicPeriod"/>
            </a:pPr>
            <a:r>
              <a:rPr lang="ru-RU"/>
              <a:t>Analyze the JSONL cards and parquet act-splits; define the Case Graph schema.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AutoNum type="arabicPeriod"/>
            </a:pPr>
            <a:r>
              <a:rPr lang="ru-RU"/>
              <a:t>Implement ETL into SQLite so agents never scan raw gigabytes.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ru-RU"/>
            </a:br>
            <a:br>
              <a:rPr lang="ru-RU"/>
            </a:br>
            <a:r>
              <a:rPr b="1" lang="ru-RU"/>
              <a:t>Implement a LangGraph pipeline with playbooks (dossier / analogs / risk / appeal / draft / full).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Evaluate routing, analog precision@5, and a citation Guard; ship CLI and Streamlit UI.</a:t>
            </a: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  <a:p>
            <a:pPr indent="-139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bb86a7c59_0_0"/>
          <p:cNvSpPr txBox="1"/>
          <p:nvPr>
            <p:ph type="title"/>
          </p:nvPr>
        </p:nvSpPr>
        <p:spPr>
          <a:xfrm>
            <a:off x="421532" y="365126"/>
            <a:ext cx="92187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Related work</a:t>
            </a:r>
            <a:endParaRPr/>
          </a:p>
        </p:txBody>
      </p:sp>
      <p:sp>
        <p:nvSpPr>
          <p:cNvPr id="60" name="Google Shape;60;g39bb86a7c59_0_0"/>
          <p:cNvSpPr txBox="1"/>
          <p:nvPr>
            <p:ph idx="12" type="sldNum"/>
          </p:nvPr>
        </p:nvSpPr>
        <p:spPr>
          <a:xfrm>
            <a:off x="9027269" y="635081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1" name="Google Shape;61;g39bb86a7c59_0_0"/>
          <p:cNvSpPr txBox="1"/>
          <p:nvPr>
            <p:ph idx="1" type="body"/>
          </p:nvPr>
        </p:nvSpPr>
        <p:spPr>
          <a:xfrm>
            <a:off x="421525" y="1157601"/>
            <a:ext cx="11348100" cy="5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>Zhong et al.; Chalkidis et al., LexGLUE / LEGAL-BERT: classification and judgment prediction. Gap: our corpus has no reliable outcome label; a “win probability” would overclaim.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COLIEE; Shao et al., BERT-PLI: learned case retrieval. Gap: we need an explainable ranker on Russian SOY acts, not an English encoder.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Lewis et al., RAG; Cui et al., ChatLaw: generate from retrieved text. Gap: generation must not invent case IDs.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>Wu et al., AutoGen; LangGraph: LLM multi-agent stacks. We use an explicit linear graph: nodes outside the plan skip.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>Magesh et al.: leading legal AI tools hallucinate citations. This motivates Guard against the SQLite index.</a:t>
            </a:r>
            <a:r>
              <a:rPr i="1" lang="ru-RU"/>
              <a:t/>
            </a:r>
            <a:r>
              <a:rPr b="1" lang="ru-RU"/>
              <a:t/>
            </a:r>
            <a:r>
              <a:rPr lang="ru-RU"/>
              <a:t/>
            </a:r>
            <a:br>
              <a:rPr lang="ru-RU"/>
            </a:br>
            <a:r>
              <a:rPr lang="ru-RU"/>
              <a:t/>
            </a:r>
            <a:br>
              <a:rPr lang="ru-RU"/>
            </a:br>
            <a:r>
              <a:rPr b="1" lang="ru-RU"/>
              <a:t/>
            </a:r>
            <a:r>
              <a:rPr lang="ru-RU"/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>Takeaway: the gap is grounded retrieval and drafting — not another outcome classifier.</a:t>
            </a:r>
            <a:r>
              <a:rPr i="1" lang="ru-RU"/>
              <a:t/>
            </a:r>
            <a:r>
              <a:rPr b="1" lang="ru-RU"/>
              <a:t/>
            </a:r>
            <a:r>
              <a:rPr lang="ru-RU"/>
              <a:t/>
            </a:r>
            <a:br>
              <a:rPr lang="ru-RU"/>
            </a:br>
            <a:r>
              <a:rPr lang="ru-RU"/>
              <a:t/>
            </a:r>
            <a:br>
              <a:rPr lang="ru-RU"/>
            </a:br>
            <a:r>
              <a:rPr b="1" lang="ru-RU"/>
              <a:t/>
            </a:r>
            <a:r>
              <a:rPr lang="ru-RU"/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/>
            </a:r>
            <a:r>
              <a:rPr i="1" lang="ru-RU"/>
              <a:t/>
            </a:r>
            <a:r>
              <a:rPr b="1" lang="ru-RU"/>
              <a:t/>
            </a:r>
            <a:r>
              <a:rPr lang="ru-RU"/>
              <a:t/>
            </a:r>
            <a:br>
              <a:rPr lang="ru-RU"/>
            </a:br>
            <a:r>
              <a:rPr lang="ru-RU"/>
              <a:t/>
            </a:r>
            <a:br>
              <a:rPr lang="ru-RU"/>
            </a:br>
            <a:r>
              <a:rPr b="1" lang="ru-RU"/>
              <a:t/>
            </a:r>
            <a:r>
              <a:rPr lang="ru-RU"/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/>
            </a:r>
            <a:br>
              <a:rPr lang="ru-RU"/>
            </a:b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Methods and tools</a:t>
            </a:r>
            <a:endParaRPr/>
          </a:p>
        </p:txBody>
      </p:sp>
      <p:sp>
        <p:nvSpPr>
          <p:cNvPr id="67" name="Google Shape;67;p5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8" name="Google Shape;68;p5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Methods: rule-based legal NLP, Case Graph normalization, lexical information retrieval, multi-agent orchestration with playbooks.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Analog score (explainable): 5·same article + 3·same judge + 2·same region + 1.5·same instance + Jaccard overlap of fabula tokens.</a:t>
            </a: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Tools: Python 3.11+, LangGraph, Pydantic, PyArrow, SQLite (WAL, batch upsert), Streamlit; optional Ollama (OpenAI-compatible API).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Data: docs.json SOY cards; correct_df_splitted_text.parquet (200 parts, text_1 / text_2 / text_3).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/>
            </a:r>
            <a:r>
              <a:rPr lang="ru-RU"/>
              <a:t/>
            </a:r>
            <a:br>
              <a:rPr lang="ru-RU"/>
            </a:br>
            <a:r>
              <a:rPr b="1" lang="ru-RU"/>
              <a:t/>
            </a:r>
            <a:r>
              <a:rPr lang="ru-RU"/>
              <a:t/>
            </a:r>
            <a:br>
              <a:rPr lang="ru-RU"/>
            </a:br>
            <a:r>
              <a:rPr b="1" lang="ru-RU"/>
              <a:t/>
            </a: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Scientific novelty</a:t>
            </a:r>
            <a:endParaRPr/>
          </a:p>
        </p:txBody>
      </p:sp>
      <p:sp>
        <p:nvSpPr>
          <p:cNvPr id="74" name="Google Shape;74;p6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5" name="Google Shape;75;p6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The task is restated as Case Graph construction and analog retrieval, not judgment prediction.</a:t>
            </a:r>
            <a:br>
              <a:rPr lang="ru-RU"/>
            </a:br>
            <a:r>
              <a:rPr lang="ru-RU"/>
              <a:t/>
            </a:r>
            <a:r>
              <a:rPr b="1" lang="ru-RU"/>
              <a:t/>
            </a: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A linear LangGraph with six playbooks: unused nodes skip, so one graph serves dossier, practice search, risk, appeal, and drafting.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Hybrid analog score is transparent (article / judge / region / instance / Jaccard) and runs without embeddings.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Guard accepts a draft only if cited case IDs exist in the index — a direct response to citation hallucination.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The pipeline is usable without an LLM key (rules + index statistics); the model is optional wording, not the source of facts.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br>
              <a:rPr lang="ru-RU"/>
            </a:b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b="1" lang="ru-RU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Solution: data and index</a:t>
            </a:r>
            <a:r>
              <a:rPr i="1" lang="ru-RU">
                <a:highlight>
                  <a:srgbClr val="FFFF00"/>
                </a:highlight>
              </a:rPr>
              <a:t/>
            </a:r>
            <a:endParaRPr/>
          </a:p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JSONL cards and parquet rows are normalized into one Case Graph (id, court, judge, region, charges, timeline, fabula, operative part).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ingest writes SQLite: sources parquet / docs / both, limit, reset; existing parquet IDs are skipped; batch insert + WAL.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Full load: 1,862,811 cases from 200 parquet parts. Agents query case_store.sqlite only.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Corpus mix: civil 1,609,786; administrative 161,766; unknown 91,121; criminal 138 — so the system is not a criminal-outcome predictor.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br>
              <a:rPr lang="ru-RU"/>
            </a:b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Solution: agents and playbooks</a:t>
            </a:r>
            <a:r>
              <a:rPr lang="ru-RU">
                <a:highlight>
                  <a:srgbClr val="FFFF00"/>
                </a:highlight>
              </a:rPr>
              <a:t/>
            </a:r>
            <a:endParaRPr/>
          </a:p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Linear graph: Orchestrator → Parser → Timeline → Act Reader → Qualification → Retriever → Risk → Appeal → Draft → Guard → Respond.</a:t>
            </a:r>
            <a:br>
              <a:rPr b="1" lang="ru-RU"/>
            </a:br>
            <a:r>
              <a:rPr b="1" lang="ru-RU"/>
              <a:t/>
            </a:r>
            <a:br>
              <a:rPr b="1" lang="ru-RU"/>
            </a:br>
            <a:r>
              <a:rPr b="1"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Playbooks: dossier (card only); analogs; risk; appeal; draft; full. Orchestrator picks by query rules; an explicit --playbook is never overridden.</a:t>
            </a:r>
            <a:r>
              <a:rPr i="1"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Retriever ranks by the hybrid score; Respond prints markdown only from AgentState; Guard checks cited IDs.</a:t>
            </a:r>
            <a:r>
              <a:rPr i="1" lang="ru-RU"/>
              <a:t/>
            </a:r>
            <a:r>
              <a:rPr lang="ru-RU"/>
              <a:t/>
            </a:r>
            <a:r>
              <a:rPr i="1" lang="ru-RU"/>
              <a:t/>
            </a:r>
            <a:r>
              <a:rPr lang="ru-RU"/>
              <a:t/>
            </a:r>
            <a:r>
              <a:rPr i="1"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Interfaces share the same functions: CLI (ingest / status / ask) and Streamlit UI.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/>
            </a:r>
            <a:r>
              <a:rPr i="1" lang="ru-RU"/>
              <a:t/>
            </a:r>
            <a:r>
              <a:rPr lang="ru-RU"/>
              <a:t/>
            </a:r>
            <a:r>
              <a:rPr i="1" lang="ru-RU"/>
              <a:t/>
            </a:r>
            <a:r>
              <a:rPr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/>
            </a:r>
            <a:r>
              <a:rPr i="1"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/>
            </a:r>
            <a:r>
              <a:rPr i="1" lang="ru-RU"/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Main results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421531" y="1157591"/>
            <a:ext cx="11348194" cy="5558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800"/>
              <a:t>Working artifact: legal_multiagent (CLI, Streamlit, README). Full index: 1.86M cases (~69 GB SQLite).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/>
              <a:t>30 automated tests passed (normalization, retrieval, routing, Guard, Risk). No invented facts in Respond.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/>
              <a:t>Retriever: ≥ 60% of top-5 analogs share article and region. Guard rejects unknown case IDs.</a:t>
            </a:r>
            <a:br>
              <a:rPr lang="ru-RU" sz="1800"/>
            </a:br>
            <a:r>
              <a:rPr lang="ru-RU" sz="1800">
                <a:highlight>
                  <a:srgbClr val="FFFF00"/>
                </a:highlight>
              </a:rP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800"/>
              <a:t>Code and README: repository root (cognitive-funnel README; not a public license).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800"/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/>
              <a:t/>
            </a:r>
            <a:r>
              <a:rPr b="1" lang="ru-RU" sz="1800"/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/>
              <a:t/>
            </a:r>
            <a:r>
              <a:rPr b="1" lang="ru-RU" sz="1800"/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/>
              <a:t/>
            </a:r>
            <a:r>
              <a:rPr b="1" lang="ru-RU" sz="1800"/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800"/>
              <a:t/>
            </a:r>
            <a:endParaRPr sz="1800"/>
          </a:p>
        </p:txBody>
      </p:sp>
      <p:graphicFrame>
        <p:nvGraphicFramePr>
          <p:cNvPr id="97" name="Google Shape;97;p11"/>
          <p:cNvGraphicFramePr/>
          <p:nvPr/>
        </p:nvGraphicFramePr>
        <p:xfrm>
          <a:off x="504412" y="53320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{0E6F1D5B-8A68-4CDE-AF4E-148A98B2EBBB}</a:tableStyleId>
              </a:tblPr>
              <a:tblGrid>
                <a:gridCol w="2608200"/>
                <a:gridCol w="2608200"/>
                <a:gridCol w="2608200"/>
                <a:gridCol w="2608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Kind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Records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Share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Role in system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Civil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1,609,786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86.4%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main analog pool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Administrative / other / criminal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b="1" lang="ru-RU" sz="1800" u="none" cap="none" strike="noStrike"/>
                        <a:t>253,025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b="1" lang="ru-RU" sz="1800" u="none" cap="none" strike="noStrike"/>
                        <a:t>13.6%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sparse; 138 criminal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Main results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4" name="Google Shape;104;p12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Qualitative checks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Routing: five query types map to the intended playbook.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Respond: final answer contains only numbers and IDs present in state.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Risk: wording states this is not a court forecast; warns when analogs are few.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Limits of the current evaluation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No lawyer-labeled “this analog is useful” set on the full corpus (precision@5 is a proxy).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LLM branches (act reader / drafting) were not run e2e without an API key.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Lexical Jaccard can promote a different article if token overlap is high.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Expected next results</a:t>
            </a:r>
            <a:r>
              <a:rPr lang="ru-RU">
                <a:highlight>
                  <a:srgbClr val="FFFF00"/>
                </a:highlight>
              </a:rPr>
              <a:t/>
            </a:r>
            <a:endParaRPr/>
          </a:p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1" name="Google Shape;111;p13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Fabula embeddings for analog search, compared with the current hybrid score.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A small lawyer-labeled relevance slice and precision/recall on that slice.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Mocks for Ollama so the full LangGraph path runs in CI.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Submit the Elsevier-format draft (paper/main.tex) to a student / legal-IR workshop.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Conclusion</a:t>
            </a:r>
            <a:endParaRPr/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8" name="Google Shape;118;p14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lang="ru-RU"/>
            </a:br>
            <a:r>
              <a:rPr b="1" lang="ru-RU"/>
              <a:t>The goal is met: a prototype that builds a Case Graph, retrieves analogs from SQLite, and drafts a position without citing missing IDs.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Task 1–2: schema + ETL for 1.86M parquet acts. Task 3: LangGraph playbooks, CLI, UI. Task 4: 30 tests; routing and Guard hold.</a:t>
            </a:r>
            <a:br>
              <a:rPr lang="ru-RU"/>
            </a:b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The system is an assistant for practice search, not a judgment classifier and not legal advice.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Next: embeddings, human relevance labels, and a workshop submission.</a:t>
            </a:r>
            <a:br>
              <a:rPr lang="ru-RU"/>
            </a:b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lang="ru-RU"/>
            </a:b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Publication readiness</a:t>
            </a:r>
            <a:endParaRPr/>
          </a:p>
        </p:txBody>
      </p:sp>
      <p:sp>
        <p:nvSpPr>
          <p:cNvPr id="124" name="Google Shape;124;p8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421531" y="1157591"/>
            <a:ext cx="11348194" cy="533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A full manuscript is prepared in Elsevier elsarticle (paper/main.tex + references.bib).</a:t>
            </a:r>
            <a:br>
              <a:rPr lang="ru-RU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Status: draft / preprint in the repository — not submitted, no acceptance yet.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Venue: to be selected (legal IR, multi-agent systems, or an ITMO student track) within three months.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No reviewer reports yet. The Overleaf-ready source can be compiled as pdfLaTeX.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/>
            </a:r>
            <a:r>
              <a:rPr i="1" lang="ru-RU"/>
              <a:t/>
            </a:r>
            <a:r>
              <a:rPr lang="ru-RU"/>
              <a:t/>
            </a:r>
            <a:br>
              <a:rPr lang="ru-RU"/>
            </a:br>
            <a:br>
              <a:rPr lang="ru-RU"/>
            </a:br>
            <a:r>
              <a:rPr b="1"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/>
            </a:r>
            <a:r>
              <a:rPr i="1" lang="ru-RU"/>
              <a:t/>
            </a:r>
            <a:r>
              <a:rPr lang="ru-RU"/>
              <a:t/>
            </a:r>
            <a:br>
              <a:rPr lang="ru-RU"/>
            </a:br>
            <a:br>
              <a:rPr lang="ru-RU"/>
            </a:br>
            <a:r>
              <a:rPr lang="ru-RU">
                <a:highlight>
                  <a:srgbClr val="FFFF00"/>
                </a:highlight>
              </a:rP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Streamlit query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01_ui_quer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59" y="1180000"/>
            <a:ext cx="11303081" cy="48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180000"/>
            <a:ext cx="8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Index of 1,862,811 cases. Query: tax-arrears analog search. Playbook: analogs.</a:t>
            </a:r>
          </a:p>
        </p:txBody>
      </p:sp>
      <p:sp>
        <p:nvSpPr>
          <p:cNvPr id="46" name="Google Shape;46;p2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analog table and graph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03_ui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922" y="1180000"/>
            <a:ext cx="7912156" cy="48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180000"/>
            <a:ext cx="8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20 ranked analogs. Unused LangGraph nodes skip (parser → … → Guard).</a:t>
            </a:r>
          </a:p>
        </p:txBody>
      </p:sp>
      <p:sp>
        <p:nvSpPr>
          <p:cNvPr id="46" name="Google Shape;46;p2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2025-10-08T10:34:53Z</dcterms:created>
  <dc:creator>Цветкова Екатерина Андреевна</dc:creator>
</cp:coreProperties>
</file>